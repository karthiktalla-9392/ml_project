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panose="020B0604020202020204" charset="0"/>
      <p:regular r:id="rId12"/>
    </p:embeddedFont>
    <p:embeddedFont>
      <p:font typeface="Canva Sans Bold" panose="020B0604020202020204" charset="0"/>
      <p:regular r:id="rId13"/>
    </p:embeddedFont>
    <p:embeddedFont>
      <p:font typeface="TT Hove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1"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667168" y="7562432"/>
            <a:ext cx="1695868" cy="169586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1613467" y="1100160"/>
            <a:ext cx="14819870" cy="4043340"/>
          </a:xfrm>
          <a:prstGeom prst="rect">
            <a:avLst/>
          </a:prstGeom>
        </p:spPr>
        <p:txBody>
          <a:bodyPr lIns="0" tIns="0" rIns="0" bIns="0" rtlCol="0" anchor="t">
            <a:spAutoFit/>
          </a:bodyPr>
          <a:lstStyle/>
          <a:p>
            <a:pPr marL="0" lvl="0" indent="0" algn="ctr">
              <a:lnSpc>
                <a:spcPts val="10763"/>
              </a:lnSpc>
              <a:spcBef>
                <a:spcPct val="0"/>
              </a:spcBef>
            </a:pPr>
            <a:r>
              <a:rPr lang="en-US" sz="7688" b="1">
                <a:solidFill>
                  <a:srgbClr val="C4FF7B"/>
                </a:solidFill>
                <a:latin typeface="TT Hoves Bold"/>
                <a:ea typeface="TT Hoves Bold"/>
                <a:cs typeface="TT Hoves Bold"/>
                <a:sym typeface="TT Hoves Bold"/>
              </a:rPr>
              <a:t> Crop Recommendation Using Multinomial Logistic Regression</a:t>
            </a:r>
          </a:p>
        </p:txBody>
      </p:sp>
      <p:sp>
        <p:nvSpPr>
          <p:cNvPr id="7" name="TextBox 7"/>
          <p:cNvSpPr txBox="1"/>
          <p:nvPr/>
        </p:nvSpPr>
        <p:spPr>
          <a:xfrm>
            <a:off x="8202057" y="830279"/>
            <a:ext cx="1883886" cy="349217"/>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0E4305"/>
                </a:solidFill>
                <a:latin typeface="TT Hoves Bold"/>
                <a:ea typeface="TT Hoves Bold"/>
                <a:cs typeface="TT Hoves Bold"/>
                <a:sym typeface="TT Hoves Bold"/>
              </a:rPr>
              <a:t>HOME</a:t>
            </a:r>
          </a:p>
        </p:txBody>
      </p:sp>
      <p:grpSp>
        <p:nvGrpSpPr>
          <p:cNvPr id="8" name="Group 8"/>
          <p:cNvGrpSpPr/>
          <p:nvPr/>
        </p:nvGrpSpPr>
        <p:grpSpPr>
          <a:xfrm rot="-10800000">
            <a:off x="-377396" y="7852204"/>
            <a:ext cx="1116325" cy="111632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a:off x="17259300" y="2300518"/>
            <a:ext cx="1695868" cy="169586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rot="-10800000">
            <a:off x="17549071" y="2590290"/>
            <a:ext cx="1116325" cy="111632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7" name="TextBox 17"/>
          <p:cNvSpPr txBox="1"/>
          <p:nvPr/>
        </p:nvSpPr>
        <p:spPr>
          <a:xfrm>
            <a:off x="0" y="8362741"/>
            <a:ext cx="2742182" cy="489507"/>
          </a:xfrm>
          <a:prstGeom prst="rect">
            <a:avLst/>
          </a:prstGeom>
        </p:spPr>
        <p:txBody>
          <a:bodyPr lIns="0" tIns="0" rIns="0" bIns="0" rtlCol="0" anchor="t">
            <a:spAutoFit/>
          </a:bodyPr>
          <a:lstStyle/>
          <a:p>
            <a:pPr algn="ctr">
              <a:lnSpc>
                <a:spcPts val="4062"/>
              </a:lnSpc>
            </a:pPr>
            <a:r>
              <a:rPr lang="en-US" sz="2901" b="1">
                <a:solidFill>
                  <a:srgbClr val="C4FF7B"/>
                </a:solidFill>
                <a:latin typeface="Canva Sans Bold"/>
                <a:ea typeface="Canva Sans Bold"/>
                <a:cs typeface="Canva Sans Bold"/>
                <a:sym typeface="Canva Sans Bold"/>
              </a:rPr>
              <a:t>Team members</a:t>
            </a:r>
          </a:p>
        </p:txBody>
      </p:sp>
      <p:sp>
        <p:nvSpPr>
          <p:cNvPr id="18" name="TextBox 18"/>
          <p:cNvSpPr txBox="1"/>
          <p:nvPr/>
        </p:nvSpPr>
        <p:spPr>
          <a:xfrm>
            <a:off x="180766" y="8904313"/>
            <a:ext cx="3346757" cy="424938"/>
          </a:xfrm>
          <a:prstGeom prst="rect">
            <a:avLst/>
          </a:prstGeom>
        </p:spPr>
        <p:txBody>
          <a:bodyPr lIns="0" tIns="0" rIns="0" bIns="0" rtlCol="0" anchor="t">
            <a:spAutoFit/>
          </a:bodyPr>
          <a:lstStyle/>
          <a:p>
            <a:pPr algn="ctr">
              <a:lnSpc>
                <a:spcPts val="3496"/>
              </a:lnSpc>
            </a:pPr>
            <a:r>
              <a:rPr lang="en-US" sz="2497">
                <a:solidFill>
                  <a:srgbClr val="FFFFFF"/>
                </a:solidFill>
                <a:latin typeface="Canva Sans"/>
                <a:ea typeface="Canva Sans"/>
                <a:cs typeface="Canva Sans"/>
                <a:sym typeface="Canva Sans"/>
              </a:rPr>
              <a:t>K.Girish - 2520030231</a:t>
            </a:r>
          </a:p>
        </p:txBody>
      </p:sp>
      <p:sp>
        <p:nvSpPr>
          <p:cNvPr id="19" name="TextBox 19"/>
          <p:cNvSpPr txBox="1"/>
          <p:nvPr/>
        </p:nvSpPr>
        <p:spPr>
          <a:xfrm>
            <a:off x="180766" y="9291151"/>
            <a:ext cx="3346757" cy="403908"/>
          </a:xfrm>
          <a:prstGeom prst="rect">
            <a:avLst/>
          </a:prstGeom>
        </p:spPr>
        <p:txBody>
          <a:bodyPr lIns="0" tIns="0" rIns="0" bIns="0" rtlCol="0" anchor="t">
            <a:spAutoFit/>
          </a:bodyPr>
          <a:lstStyle/>
          <a:p>
            <a:pPr algn="ctr">
              <a:lnSpc>
                <a:spcPts val="3409"/>
              </a:lnSpc>
            </a:pPr>
            <a:r>
              <a:rPr lang="en-US" sz="2435" dirty="0" err="1">
                <a:solidFill>
                  <a:srgbClr val="FFFFFF"/>
                </a:solidFill>
                <a:latin typeface="Canva Sans"/>
                <a:ea typeface="Canva Sans"/>
                <a:cs typeface="Canva Sans"/>
                <a:sym typeface="Canva Sans"/>
              </a:rPr>
              <a:t>T.Karthik</a:t>
            </a:r>
            <a:r>
              <a:rPr lang="en-US" sz="2435" dirty="0">
                <a:solidFill>
                  <a:srgbClr val="FFFFFF"/>
                </a:solidFill>
                <a:latin typeface="Canva Sans"/>
                <a:ea typeface="Canva Sans"/>
                <a:cs typeface="Canva Sans"/>
                <a:sym typeface="Canva Sans"/>
              </a:rPr>
              <a:t>- 2520030234</a:t>
            </a:r>
          </a:p>
        </p:txBody>
      </p:sp>
      <p:sp>
        <p:nvSpPr>
          <p:cNvPr id="20" name="TextBox 20"/>
          <p:cNvSpPr txBox="1"/>
          <p:nvPr/>
        </p:nvSpPr>
        <p:spPr>
          <a:xfrm>
            <a:off x="16433337" y="8271858"/>
            <a:ext cx="1115735" cy="580390"/>
          </a:xfrm>
          <a:prstGeom prst="rect">
            <a:avLst/>
          </a:prstGeom>
        </p:spPr>
        <p:txBody>
          <a:bodyPr lIns="0" tIns="0" rIns="0" bIns="0" rtlCol="0" anchor="t">
            <a:spAutoFit/>
          </a:bodyPr>
          <a:lstStyle/>
          <a:p>
            <a:pPr algn="ctr">
              <a:lnSpc>
                <a:spcPts val="4759"/>
              </a:lnSpc>
            </a:pPr>
            <a:r>
              <a:rPr lang="en-US" sz="3399">
                <a:solidFill>
                  <a:srgbClr val="C4FF7B"/>
                </a:solidFill>
                <a:latin typeface="Canva Sans"/>
                <a:ea typeface="Canva Sans"/>
                <a:cs typeface="Canva Sans"/>
                <a:sym typeface="Canva Sans"/>
              </a:rPr>
              <a:t>sec-8</a:t>
            </a:r>
          </a:p>
        </p:txBody>
      </p:sp>
      <p:sp>
        <p:nvSpPr>
          <p:cNvPr id="21" name="TextBox 21"/>
          <p:cNvSpPr txBox="1"/>
          <p:nvPr/>
        </p:nvSpPr>
        <p:spPr>
          <a:xfrm>
            <a:off x="10551857" y="8932062"/>
            <a:ext cx="6997214" cy="465390"/>
          </a:xfrm>
          <a:prstGeom prst="rect">
            <a:avLst/>
          </a:prstGeom>
        </p:spPr>
        <p:txBody>
          <a:bodyPr lIns="0" tIns="0" rIns="0" bIns="0" rtlCol="0" anchor="t">
            <a:spAutoFit/>
          </a:bodyPr>
          <a:lstStyle/>
          <a:p>
            <a:pPr algn="ctr">
              <a:lnSpc>
                <a:spcPts val="3870"/>
              </a:lnSpc>
            </a:pPr>
            <a:r>
              <a:rPr lang="en-US" sz="2764">
                <a:solidFill>
                  <a:srgbClr val="FFFFFF"/>
                </a:solidFill>
                <a:latin typeface="Canva Sans"/>
                <a:ea typeface="Canva Sans"/>
                <a:cs typeface="Canva Sans"/>
                <a:sym typeface="Canva Sans"/>
              </a:rPr>
              <a:t>Guide : Shaik Asif Assistant Professor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3582418" y="447675"/>
            <a:ext cx="9722372" cy="1038225"/>
          </a:xfrm>
          <a:prstGeom prst="rect">
            <a:avLst/>
          </a:prstGeom>
        </p:spPr>
        <p:txBody>
          <a:bodyPr lIns="0" tIns="0" rIns="0" bIns="0" rtlCol="0" anchor="t">
            <a:spAutoFit/>
          </a:bodyPr>
          <a:lstStyle/>
          <a:p>
            <a:pPr marL="0" lvl="0" indent="0" algn="ctr">
              <a:lnSpc>
                <a:spcPts val="8400"/>
              </a:lnSpc>
              <a:spcBef>
                <a:spcPct val="0"/>
              </a:spcBef>
            </a:pPr>
            <a:r>
              <a:rPr lang="en-US" sz="6000" b="1">
                <a:solidFill>
                  <a:srgbClr val="071904"/>
                </a:solidFill>
                <a:latin typeface="TT Hoves Bold"/>
                <a:ea typeface="TT Hoves Bold"/>
                <a:cs typeface="TT Hoves Bold"/>
                <a:sym typeface="TT Hoves Bold"/>
              </a:rPr>
              <a:t> Problem Statement</a:t>
            </a:r>
          </a:p>
        </p:txBody>
      </p:sp>
      <p:sp>
        <p:nvSpPr>
          <p:cNvPr id="4" name="Freeform 4"/>
          <p:cNvSpPr/>
          <p:nvPr/>
        </p:nvSpPr>
        <p:spPr>
          <a:xfrm>
            <a:off x="7949157" y="9627777"/>
            <a:ext cx="2926189" cy="1543565"/>
          </a:xfrm>
          <a:custGeom>
            <a:avLst/>
            <a:gdLst/>
            <a:ahLst/>
            <a:cxnLst/>
            <a:rect l="l" t="t" r="r" b="b"/>
            <a:pathLst>
              <a:path w="2926189" h="1543565">
                <a:moveTo>
                  <a:pt x="0" y="0"/>
                </a:moveTo>
                <a:lnTo>
                  <a:pt x="2926189" y="0"/>
                </a:lnTo>
                <a:lnTo>
                  <a:pt x="2926189" y="1543564"/>
                </a:lnTo>
                <a:lnTo>
                  <a:pt x="0" y="1543564"/>
                </a:lnTo>
                <a:lnTo>
                  <a:pt x="0" y="0"/>
                </a:lnTo>
                <a:close/>
              </a:path>
            </a:pathLst>
          </a:custGeom>
          <a:blipFill>
            <a:blip r:embed="rId3"/>
            <a:stretch>
              <a:fillRect/>
            </a:stretch>
          </a:blipFill>
        </p:spPr>
      </p:sp>
      <p:sp>
        <p:nvSpPr>
          <p:cNvPr id="5" name="Freeform 5"/>
          <p:cNvSpPr/>
          <p:nvPr/>
        </p:nvSpPr>
        <p:spPr>
          <a:xfrm>
            <a:off x="-859915" y="1868247"/>
            <a:ext cx="1577213" cy="2854684"/>
          </a:xfrm>
          <a:custGeom>
            <a:avLst/>
            <a:gdLst/>
            <a:ahLst/>
            <a:cxnLst/>
            <a:rect l="l" t="t" r="r" b="b"/>
            <a:pathLst>
              <a:path w="1577213" h="2854684">
                <a:moveTo>
                  <a:pt x="0" y="0"/>
                </a:moveTo>
                <a:lnTo>
                  <a:pt x="1577212" y="0"/>
                </a:lnTo>
                <a:lnTo>
                  <a:pt x="1577212" y="2854683"/>
                </a:lnTo>
                <a:lnTo>
                  <a:pt x="0" y="2854683"/>
                </a:lnTo>
                <a:lnTo>
                  <a:pt x="0" y="0"/>
                </a:lnTo>
                <a:close/>
              </a:path>
            </a:pathLst>
          </a:custGeom>
          <a:blipFill>
            <a:blip r:embed="rId4"/>
            <a:stretch>
              <a:fillRect/>
            </a:stretch>
          </a:blipFill>
        </p:spPr>
      </p:sp>
      <p:sp>
        <p:nvSpPr>
          <p:cNvPr id="6" name="Freeform 6"/>
          <p:cNvSpPr/>
          <p:nvPr/>
        </p:nvSpPr>
        <p:spPr>
          <a:xfrm>
            <a:off x="17117860" y="2773013"/>
            <a:ext cx="1700128" cy="1918339"/>
          </a:xfrm>
          <a:custGeom>
            <a:avLst/>
            <a:gdLst/>
            <a:ahLst/>
            <a:cxnLst/>
            <a:rect l="l" t="t" r="r" b="b"/>
            <a:pathLst>
              <a:path w="1700128" h="1918339">
                <a:moveTo>
                  <a:pt x="0" y="0"/>
                </a:moveTo>
                <a:lnTo>
                  <a:pt x="1700128" y="0"/>
                </a:lnTo>
                <a:lnTo>
                  <a:pt x="1700128" y="1918339"/>
                </a:lnTo>
                <a:lnTo>
                  <a:pt x="0" y="1918339"/>
                </a:lnTo>
                <a:lnTo>
                  <a:pt x="0" y="0"/>
                </a:lnTo>
                <a:close/>
              </a:path>
            </a:pathLst>
          </a:custGeom>
          <a:blipFill>
            <a:blip r:embed="rId5"/>
            <a:stretch>
              <a:fillRect/>
            </a:stretch>
          </a:blipFill>
        </p:spPr>
      </p:sp>
      <p:sp>
        <p:nvSpPr>
          <p:cNvPr id="7" name="TextBox 7"/>
          <p:cNvSpPr txBox="1"/>
          <p:nvPr/>
        </p:nvSpPr>
        <p:spPr>
          <a:xfrm>
            <a:off x="57306" y="2343862"/>
            <a:ext cx="16093731" cy="327517"/>
          </a:xfrm>
          <a:prstGeom prst="rect">
            <a:avLst/>
          </a:prstGeom>
        </p:spPr>
        <p:txBody>
          <a:bodyPr lIns="0" tIns="0" rIns="0" bIns="0" rtlCol="0" anchor="t">
            <a:spAutoFit/>
          </a:bodyPr>
          <a:lstStyle/>
          <a:p>
            <a:pPr algn="ctr">
              <a:lnSpc>
                <a:spcPts val="2686"/>
              </a:lnSpc>
              <a:spcBef>
                <a:spcPct val="0"/>
              </a:spcBef>
            </a:pPr>
            <a:endParaRPr/>
          </a:p>
        </p:txBody>
      </p:sp>
      <p:sp>
        <p:nvSpPr>
          <p:cNvPr id="8" name="TextBox 8"/>
          <p:cNvSpPr txBox="1"/>
          <p:nvPr/>
        </p:nvSpPr>
        <p:spPr>
          <a:xfrm>
            <a:off x="1099420" y="3270038"/>
            <a:ext cx="16089160" cy="4506925"/>
          </a:xfrm>
          <a:prstGeom prst="rect">
            <a:avLst/>
          </a:prstGeom>
        </p:spPr>
        <p:txBody>
          <a:bodyPr lIns="0" tIns="0" rIns="0" bIns="0" rtlCol="0" anchor="t">
            <a:spAutoFit/>
          </a:bodyPr>
          <a:lstStyle/>
          <a:p>
            <a:pPr algn="just">
              <a:lnSpc>
                <a:spcPts val="5161"/>
              </a:lnSpc>
            </a:pPr>
            <a:r>
              <a:rPr lang="en-US" sz="3687" b="1">
                <a:solidFill>
                  <a:srgbClr val="000000"/>
                </a:solidFill>
                <a:latin typeface="Canva Sans Bold"/>
                <a:ea typeface="Canva Sans Bold"/>
                <a:cs typeface="Canva Sans Bold"/>
                <a:sym typeface="Canva Sans Bold"/>
              </a:rPr>
              <a:t>Farmers need to select crops according to soil nutrients and environmental conditions. However, traditional crop selection often depends on experience and manual analysis, which may lead to unsuitable crop selection, reduced productivity, and inefficient resource utilization. Therefore, there is a need for a data-driven machine learning system that can analyze soil and climatic parameters and recommend the most suitable crop.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grpSp>
        <p:nvGrpSpPr>
          <p:cNvPr id="3" name="Group 3"/>
          <p:cNvGrpSpPr/>
          <p:nvPr/>
        </p:nvGrpSpPr>
        <p:grpSpPr>
          <a:xfrm>
            <a:off x="-667168" y="7562432"/>
            <a:ext cx="1695868" cy="169586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rot="-10800000">
            <a:off x="-377396" y="7852204"/>
            <a:ext cx="1116325" cy="111632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a:off x="17259300" y="2300518"/>
            <a:ext cx="1695868" cy="169586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2" name="Group 12"/>
          <p:cNvGrpSpPr/>
          <p:nvPr/>
        </p:nvGrpSpPr>
        <p:grpSpPr>
          <a:xfrm rot="-10800000">
            <a:off x="17549071" y="2590290"/>
            <a:ext cx="1116325" cy="111632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5" name="TextBox 15"/>
          <p:cNvSpPr txBox="1"/>
          <p:nvPr/>
        </p:nvSpPr>
        <p:spPr>
          <a:xfrm>
            <a:off x="4011274" y="413910"/>
            <a:ext cx="9277518" cy="1082227"/>
          </a:xfrm>
          <a:prstGeom prst="rect">
            <a:avLst/>
          </a:prstGeom>
        </p:spPr>
        <p:txBody>
          <a:bodyPr lIns="0" tIns="0" rIns="0" bIns="0" rtlCol="0" anchor="t">
            <a:spAutoFit/>
          </a:bodyPr>
          <a:lstStyle/>
          <a:p>
            <a:pPr algn="ctr">
              <a:lnSpc>
                <a:spcPts val="8848"/>
              </a:lnSpc>
            </a:pPr>
            <a:r>
              <a:rPr lang="en-US" sz="6320" b="1">
                <a:solidFill>
                  <a:srgbClr val="000000"/>
                </a:solidFill>
                <a:latin typeface="Canva Sans Bold"/>
                <a:ea typeface="Canva Sans Bold"/>
                <a:cs typeface="Canva Sans Bold"/>
                <a:sym typeface="Canva Sans Bold"/>
              </a:rPr>
              <a:t>PROPOSED SOLUTIONS</a:t>
            </a:r>
          </a:p>
        </p:txBody>
      </p:sp>
      <p:sp>
        <p:nvSpPr>
          <p:cNvPr id="16" name="TextBox 16"/>
          <p:cNvSpPr txBox="1"/>
          <p:nvPr/>
        </p:nvSpPr>
        <p:spPr>
          <a:xfrm>
            <a:off x="1695868" y="2857500"/>
            <a:ext cx="13204133" cy="5263597"/>
          </a:xfrm>
          <a:prstGeom prst="rect">
            <a:avLst/>
          </a:prstGeom>
        </p:spPr>
        <p:txBody>
          <a:bodyPr lIns="0" tIns="0" rIns="0" bIns="0" rtlCol="0" anchor="t">
            <a:spAutoFit/>
          </a:bodyPr>
          <a:lstStyle/>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Collect soil and weather data.</a:t>
            </a:r>
          </a:p>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Clean and analyze the data using EDA.</a:t>
            </a:r>
          </a:p>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Train a Multinomial Logistic Regression model.</a:t>
            </a:r>
          </a:p>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Give soil and environmental values as input.</a:t>
            </a:r>
          </a:p>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Model predicts the most suitable crop.</a:t>
            </a:r>
          </a:p>
          <a:p>
            <a:pPr marL="908091" lvl="1" indent="-454045" algn="l">
              <a:lnSpc>
                <a:spcPts val="5888"/>
              </a:lnSpc>
              <a:buFont typeface="Arial"/>
              <a:buChar char="•"/>
            </a:pPr>
            <a:r>
              <a:rPr lang="en-US" sz="4206" b="1" dirty="0">
                <a:solidFill>
                  <a:srgbClr val="000000"/>
                </a:solidFill>
                <a:latin typeface="Canva Sans Bold"/>
                <a:ea typeface="Canva Sans Bold"/>
                <a:cs typeface="Canva Sans Bold"/>
                <a:sym typeface="Canva Sans Bold"/>
              </a:rPr>
              <a:t>Help farmers make better crop-selection decisions.</a:t>
            </a:r>
          </a:p>
          <a:p>
            <a:pPr marL="13098" lvl="1" indent="-6549" algn="l">
              <a:lnSpc>
                <a:spcPts val="84"/>
              </a:lnSpc>
              <a:buFont typeface="Arial"/>
              <a:buChar char="•"/>
            </a:pPr>
            <a:endParaRPr lang="en-US" sz="4206"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5964839" y="447675"/>
            <a:ext cx="5067780" cy="1038225"/>
          </a:xfrm>
          <a:prstGeom prst="rect">
            <a:avLst/>
          </a:prstGeom>
        </p:spPr>
        <p:txBody>
          <a:bodyPr lIns="0" tIns="0" rIns="0" bIns="0" rtlCol="0" anchor="t">
            <a:spAutoFit/>
          </a:bodyPr>
          <a:lstStyle/>
          <a:p>
            <a:pPr marL="0" lvl="0" indent="0" algn="l">
              <a:lnSpc>
                <a:spcPts val="8400"/>
              </a:lnSpc>
              <a:spcBef>
                <a:spcPct val="0"/>
              </a:spcBef>
            </a:pPr>
            <a:r>
              <a:rPr lang="en-US" sz="6000" b="1">
                <a:solidFill>
                  <a:srgbClr val="000000"/>
                </a:solidFill>
                <a:latin typeface="TT Hoves Bold"/>
                <a:ea typeface="TT Hoves Bold"/>
                <a:cs typeface="TT Hoves Bold"/>
                <a:sym typeface="TT Hoves Bold"/>
              </a:rPr>
              <a:t>OBJECTIVES</a:t>
            </a:r>
          </a:p>
        </p:txBody>
      </p:sp>
      <p:sp>
        <p:nvSpPr>
          <p:cNvPr id="4" name="Freeform 4"/>
          <p:cNvSpPr/>
          <p:nvPr/>
        </p:nvSpPr>
        <p:spPr>
          <a:xfrm>
            <a:off x="13546723" y="8486518"/>
            <a:ext cx="2926189" cy="1543565"/>
          </a:xfrm>
          <a:custGeom>
            <a:avLst/>
            <a:gdLst/>
            <a:ahLst/>
            <a:cxnLst/>
            <a:rect l="l" t="t" r="r" b="b"/>
            <a:pathLst>
              <a:path w="2926189" h="1543565">
                <a:moveTo>
                  <a:pt x="0" y="0"/>
                </a:moveTo>
                <a:lnTo>
                  <a:pt x="2926189" y="0"/>
                </a:lnTo>
                <a:lnTo>
                  <a:pt x="2926189" y="1543564"/>
                </a:lnTo>
                <a:lnTo>
                  <a:pt x="0" y="1543564"/>
                </a:lnTo>
                <a:lnTo>
                  <a:pt x="0" y="0"/>
                </a:lnTo>
                <a:close/>
              </a:path>
            </a:pathLst>
          </a:custGeom>
          <a:blipFill>
            <a:blip r:embed="rId3"/>
            <a:stretch>
              <a:fillRect/>
            </a:stretch>
          </a:blipFill>
        </p:spPr>
      </p:sp>
      <p:sp>
        <p:nvSpPr>
          <p:cNvPr id="5" name="Freeform 5"/>
          <p:cNvSpPr/>
          <p:nvPr/>
        </p:nvSpPr>
        <p:spPr>
          <a:xfrm>
            <a:off x="17259300" y="4548425"/>
            <a:ext cx="1700128" cy="1918339"/>
          </a:xfrm>
          <a:custGeom>
            <a:avLst/>
            <a:gdLst/>
            <a:ahLst/>
            <a:cxnLst/>
            <a:rect l="l" t="t" r="r" b="b"/>
            <a:pathLst>
              <a:path w="1700128" h="1918339">
                <a:moveTo>
                  <a:pt x="0" y="0"/>
                </a:moveTo>
                <a:lnTo>
                  <a:pt x="1700128" y="0"/>
                </a:lnTo>
                <a:lnTo>
                  <a:pt x="1700128" y="1918339"/>
                </a:lnTo>
                <a:lnTo>
                  <a:pt x="0" y="1918339"/>
                </a:lnTo>
                <a:lnTo>
                  <a:pt x="0" y="0"/>
                </a:lnTo>
                <a:close/>
              </a:path>
            </a:pathLst>
          </a:custGeom>
          <a:blipFill>
            <a:blip r:embed="rId4"/>
            <a:stretch>
              <a:fillRect/>
            </a:stretch>
          </a:blipFill>
        </p:spPr>
      </p:sp>
      <p:sp>
        <p:nvSpPr>
          <p:cNvPr id="6" name="Freeform 6"/>
          <p:cNvSpPr/>
          <p:nvPr/>
        </p:nvSpPr>
        <p:spPr>
          <a:xfrm>
            <a:off x="-859915" y="1868247"/>
            <a:ext cx="1577213" cy="2854684"/>
          </a:xfrm>
          <a:custGeom>
            <a:avLst/>
            <a:gdLst/>
            <a:ahLst/>
            <a:cxnLst/>
            <a:rect l="l" t="t" r="r" b="b"/>
            <a:pathLst>
              <a:path w="1577213" h="2854684">
                <a:moveTo>
                  <a:pt x="0" y="0"/>
                </a:moveTo>
                <a:lnTo>
                  <a:pt x="1577212" y="0"/>
                </a:lnTo>
                <a:lnTo>
                  <a:pt x="1577212" y="2854683"/>
                </a:lnTo>
                <a:lnTo>
                  <a:pt x="0" y="2854683"/>
                </a:lnTo>
                <a:lnTo>
                  <a:pt x="0" y="0"/>
                </a:lnTo>
                <a:close/>
              </a:path>
            </a:pathLst>
          </a:custGeom>
          <a:blipFill>
            <a:blip r:embed="rId5"/>
            <a:stretch>
              <a:fillRect/>
            </a:stretch>
          </a:blipFill>
        </p:spPr>
      </p:sp>
      <p:sp>
        <p:nvSpPr>
          <p:cNvPr id="7" name="TextBox 7"/>
          <p:cNvSpPr txBox="1"/>
          <p:nvPr/>
        </p:nvSpPr>
        <p:spPr>
          <a:xfrm>
            <a:off x="1028700" y="2160578"/>
            <a:ext cx="16525950" cy="4727568"/>
          </a:xfrm>
          <a:prstGeom prst="rect">
            <a:avLst/>
          </a:prstGeom>
        </p:spPr>
        <p:txBody>
          <a:bodyPr lIns="0" tIns="0" rIns="0" bIns="0" rtlCol="0" anchor="t">
            <a:spAutoFit/>
          </a:bodyPr>
          <a:lstStyle/>
          <a:p>
            <a:pPr algn="l">
              <a:lnSpc>
                <a:spcPts val="4244"/>
              </a:lnSpc>
            </a:pPr>
            <a:endParaRP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Analyze soil and weather conditions for different crops.</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Perform EDA to find useful patterns in the dataset.</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Preprocess the agricultural data for machine learning.</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Build a crop recommendation model using Multinomial Logistic Regression.</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Predict the most suitable crop based on the given conditions.</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Evaluate the model using Accuracy, Precision, Recall, F1-Score and Confusion Matrix.</a:t>
            </a:r>
          </a:p>
          <a:p>
            <a:pPr marL="654604" lvl="1" indent="-327302" algn="l">
              <a:lnSpc>
                <a:spcPts val="4244"/>
              </a:lnSpc>
              <a:buFont typeface="Arial"/>
              <a:buChar char="•"/>
            </a:pPr>
            <a:r>
              <a:rPr lang="en-US" sz="3031" b="1">
                <a:solidFill>
                  <a:srgbClr val="000000"/>
                </a:solidFill>
                <a:latin typeface="Canva Sans Bold"/>
                <a:ea typeface="Canva Sans Bold"/>
                <a:cs typeface="Canva Sans Bold"/>
                <a:sym typeface="Canva Sans Bold"/>
              </a:rPr>
              <a:t>Support farmers in making better crop-selection decisions</a:t>
            </a:r>
          </a:p>
          <a:p>
            <a:pPr algn="l">
              <a:lnSpc>
                <a:spcPts val="4244"/>
              </a:lnSpc>
            </a:pPr>
            <a:endParaRPr lang="en-US" sz="3031" b="1">
              <a:solidFill>
                <a:srgbClr val="000000"/>
              </a:solidFill>
              <a:latin typeface="Canva Sans Bold"/>
              <a:ea typeface="Canva Sans Bold"/>
              <a:cs typeface="Canva Sans Bold"/>
              <a:sym typeface="Canva Sa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grpSp>
        <p:nvGrpSpPr>
          <p:cNvPr id="3" name="Group 3"/>
          <p:cNvGrpSpPr/>
          <p:nvPr/>
        </p:nvGrpSpPr>
        <p:grpSpPr>
          <a:xfrm>
            <a:off x="17259300" y="2073219"/>
            <a:ext cx="1695868" cy="169586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C0DF99">
                    <a:alpha val="100000"/>
                  </a:srgbClr>
                </a:gs>
                <a:gs pos="100000">
                  <a:srgbClr val="8EB953">
                    <a:alpha val="100000"/>
                  </a:srgbClr>
                </a:gs>
              </a:gsLst>
              <a:lin ang="0"/>
            </a:gra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6" name="Freeform 6"/>
          <p:cNvSpPr/>
          <p:nvPr/>
        </p:nvSpPr>
        <p:spPr>
          <a:xfrm>
            <a:off x="16686134" y="1695292"/>
            <a:ext cx="2926189" cy="1543565"/>
          </a:xfrm>
          <a:custGeom>
            <a:avLst/>
            <a:gdLst/>
            <a:ahLst/>
            <a:cxnLst/>
            <a:rect l="l" t="t" r="r" b="b"/>
            <a:pathLst>
              <a:path w="2926189" h="1543565">
                <a:moveTo>
                  <a:pt x="0" y="0"/>
                </a:moveTo>
                <a:lnTo>
                  <a:pt x="2926189" y="0"/>
                </a:lnTo>
                <a:lnTo>
                  <a:pt x="2926189" y="1543564"/>
                </a:lnTo>
                <a:lnTo>
                  <a:pt x="0" y="1543564"/>
                </a:lnTo>
                <a:lnTo>
                  <a:pt x="0" y="0"/>
                </a:lnTo>
                <a:close/>
              </a:path>
            </a:pathLst>
          </a:custGeom>
          <a:blipFill>
            <a:blip r:embed="rId3"/>
            <a:stretch>
              <a:fillRect/>
            </a:stretch>
          </a:blipFill>
        </p:spPr>
      </p:sp>
      <p:graphicFrame>
        <p:nvGraphicFramePr>
          <p:cNvPr id="7" name="Object 7"/>
          <p:cNvGraphicFramePr/>
          <p:nvPr/>
        </p:nvGraphicFramePr>
        <p:xfrm>
          <a:off x="7909387" y="2921153"/>
          <a:ext cx="7543800" cy="5657850"/>
        </p:xfrm>
        <a:graphic>
          <a:graphicData uri="http://schemas.openxmlformats.org/presentationml/2006/ole">
            <mc:AlternateContent xmlns:mc="http://schemas.openxmlformats.org/markup-compatibility/2006">
              <mc:Choice xmlns:v="urn:schemas-microsoft-com:vml" Requires="v">
                <p:oleObj name="Worksheet" r:id="rId4" imgW="9042400" imgH="7162800" progId="Excel.Sheet.12">
                  <p:embed/>
                </p:oleObj>
              </mc:Choice>
              <mc:Fallback>
                <p:oleObj name="Worksheet" r:id="rId4" imgW="9042400" imgH="7162800" progId="Excel.Sheet.12">
                  <p:embed/>
                  <p:pic>
                    <p:nvPicPr>
                      <p:cNvPr id="0" name=""/>
                      <p:cNvPicPr/>
                      <p:nvPr/>
                    </p:nvPicPr>
                    <p:blipFill>
                      <a:blip r:embed="rId5"/>
                      <a:stretch>
                        <a:fillRect/>
                      </a:stretch>
                    </p:blipFill>
                    <p:spPr>
                      <a:xfrm>
                        <a:off x="7909387" y="2921153"/>
                        <a:ext cx="7543800" cy="5657850"/>
                      </a:xfrm>
                      <a:prstGeom prst="rect">
                        <a:avLst/>
                      </a:prstGeom>
                    </p:spPr>
                  </p:pic>
                </p:oleObj>
              </mc:Fallback>
            </mc:AlternateContent>
          </a:graphicData>
        </a:graphic>
      </p:graphicFrame>
      <p:sp>
        <p:nvSpPr>
          <p:cNvPr id="8" name="TextBox 8"/>
          <p:cNvSpPr txBox="1"/>
          <p:nvPr/>
        </p:nvSpPr>
        <p:spPr>
          <a:xfrm>
            <a:off x="4587569" y="237875"/>
            <a:ext cx="9112861" cy="1419725"/>
          </a:xfrm>
          <a:prstGeom prst="rect">
            <a:avLst/>
          </a:prstGeom>
        </p:spPr>
        <p:txBody>
          <a:bodyPr lIns="0" tIns="0" rIns="0" bIns="0" rtlCol="0" anchor="t">
            <a:spAutoFit/>
          </a:bodyPr>
          <a:lstStyle/>
          <a:p>
            <a:pPr algn="ctr">
              <a:lnSpc>
                <a:spcPts val="11612"/>
              </a:lnSpc>
            </a:pPr>
            <a:r>
              <a:rPr lang="en-US" sz="8294" b="1">
                <a:solidFill>
                  <a:srgbClr val="000000"/>
                </a:solidFill>
                <a:latin typeface="Canva Sans Bold"/>
                <a:ea typeface="Canva Sans Bold"/>
                <a:cs typeface="Canva Sans Bold"/>
                <a:sym typeface="Canva Sans Bold"/>
              </a:rPr>
              <a:t>Dataset Overview</a:t>
            </a:r>
          </a:p>
        </p:txBody>
      </p:sp>
      <p:sp>
        <p:nvSpPr>
          <p:cNvPr id="9" name="TextBox 9"/>
          <p:cNvSpPr txBox="1"/>
          <p:nvPr/>
        </p:nvSpPr>
        <p:spPr>
          <a:xfrm>
            <a:off x="379875" y="2671787"/>
            <a:ext cx="7205662" cy="6778728"/>
          </a:xfrm>
          <a:prstGeom prst="rect">
            <a:avLst/>
          </a:prstGeom>
        </p:spPr>
        <p:txBody>
          <a:bodyPr lIns="0" tIns="0" rIns="0" bIns="0" rtlCol="0" anchor="t">
            <a:spAutoFit/>
          </a:bodyPr>
          <a:lstStyle/>
          <a:p>
            <a:pPr algn="l">
              <a:lnSpc>
                <a:spcPts val="4894"/>
              </a:lnSpc>
            </a:pPr>
            <a:r>
              <a:rPr lang="en-US" sz="3495" b="1">
                <a:solidFill>
                  <a:srgbClr val="000000"/>
                </a:solidFill>
                <a:latin typeface="Canva Sans Bold"/>
                <a:ea typeface="Canva Sans Bold"/>
                <a:cs typeface="Canva Sans Bold"/>
                <a:sym typeface="Canva Sans Bold"/>
              </a:rPr>
              <a:t>Dataset</a:t>
            </a:r>
          </a:p>
          <a:p>
            <a:pPr algn="l">
              <a:lnSpc>
                <a:spcPts val="4894"/>
              </a:lnSpc>
            </a:pPr>
            <a:endParaRPr lang="en-US" sz="3495" b="1">
              <a:solidFill>
                <a:srgbClr val="000000"/>
              </a:solidFill>
              <a:latin typeface="Canva Sans Bold"/>
              <a:ea typeface="Canva Sans Bold"/>
              <a:cs typeface="Canva Sans Bold"/>
              <a:sym typeface="Canva Sans Bold"/>
            </a:endParaRP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Rows: 2,200</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Columns: 8</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Input Features: 7</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Target Column: label</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Target Type: Categorical</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Date/Time Columns: None</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Numerical Columns: 7</a:t>
            </a:r>
          </a:p>
          <a:p>
            <a:pPr marL="754773" lvl="1" indent="-377386" algn="l">
              <a:lnSpc>
                <a:spcPts val="4894"/>
              </a:lnSpc>
              <a:buFont typeface="Arial"/>
              <a:buChar char="•"/>
            </a:pPr>
            <a:r>
              <a:rPr lang="en-US" sz="3495" b="1">
                <a:solidFill>
                  <a:srgbClr val="000000"/>
                </a:solidFill>
                <a:latin typeface="Canva Sans Bold"/>
                <a:ea typeface="Canva Sans Bold"/>
                <a:cs typeface="Canva Sans Bold"/>
                <a:sym typeface="Canva Sans Bold"/>
              </a:rPr>
              <a:t>Categorical Columns: 1 (label)</a:t>
            </a:r>
          </a:p>
          <a:p>
            <a:pPr algn="l">
              <a:lnSpc>
                <a:spcPts val="4894"/>
              </a:lnSpc>
            </a:pPr>
            <a:endParaRPr lang="en-US" sz="3495" b="1">
              <a:solidFill>
                <a:srgbClr val="000000"/>
              </a:solidFill>
              <a:latin typeface="Canva Sans Bold"/>
              <a:ea typeface="Canva Sans Bold"/>
              <a:cs typeface="Canva Sans Bold"/>
              <a:sym typeface="Canva Sa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7025133" y="-50093"/>
            <a:ext cx="1700128" cy="1918339"/>
          </a:xfrm>
          <a:custGeom>
            <a:avLst/>
            <a:gdLst/>
            <a:ahLst/>
            <a:cxnLst/>
            <a:rect l="l" t="t" r="r" b="b"/>
            <a:pathLst>
              <a:path w="1700128" h="1918339">
                <a:moveTo>
                  <a:pt x="0" y="0"/>
                </a:moveTo>
                <a:lnTo>
                  <a:pt x="1700128" y="0"/>
                </a:lnTo>
                <a:lnTo>
                  <a:pt x="1700128" y="1918340"/>
                </a:lnTo>
                <a:lnTo>
                  <a:pt x="0" y="1918340"/>
                </a:lnTo>
                <a:lnTo>
                  <a:pt x="0" y="0"/>
                </a:lnTo>
                <a:close/>
              </a:path>
            </a:pathLst>
          </a:custGeom>
          <a:blipFill>
            <a:blip r:embed="rId3"/>
            <a:stretch>
              <a:fillRect/>
            </a:stretch>
          </a:blipFill>
        </p:spPr>
      </p:sp>
      <p:sp>
        <p:nvSpPr>
          <p:cNvPr id="4" name="Freeform 4"/>
          <p:cNvSpPr/>
          <p:nvPr/>
        </p:nvSpPr>
        <p:spPr>
          <a:xfrm>
            <a:off x="-859915" y="1868247"/>
            <a:ext cx="1577213" cy="2854684"/>
          </a:xfrm>
          <a:custGeom>
            <a:avLst/>
            <a:gdLst/>
            <a:ahLst/>
            <a:cxnLst/>
            <a:rect l="l" t="t" r="r" b="b"/>
            <a:pathLst>
              <a:path w="1577213" h="2854684">
                <a:moveTo>
                  <a:pt x="0" y="0"/>
                </a:moveTo>
                <a:lnTo>
                  <a:pt x="1577212" y="0"/>
                </a:lnTo>
                <a:lnTo>
                  <a:pt x="1577212" y="2854683"/>
                </a:lnTo>
                <a:lnTo>
                  <a:pt x="0" y="2854683"/>
                </a:lnTo>
                <a:lnTo>
                  <a:pt x="0" y="0"/>
                </a:lnTo>
                <a:close/>
              </a:path>
            </a:pathLst>
          </a:custGeom>
          <a:blipFill>
            <a:blip r:embed="rId4"/>
            <a:stretch>
              <a:fillRect/>
            </a:stretch>
          </a:blipFill>
        </p:spPr>
      </p:sp>
      <p:sp>
        <p:nvSpPr>
          <p:cNvPr id="5" name="Freeform 5"/>
          <p:cNvSpPr/>
          <p:nvPr/>
        </p:nvSpPr>
        <p:spPr>
          <a:xfrm>
            <a:off x="10464529" y="4039165"/>
            <a:ext cx="7410668" cy="5509791"/>
          </a:xfrm>
          <a:custGeom>
            <a:avLst/>
            <a:gdLst/>
            <a:ahLst/>
            <a:cxnLst/>
            <a:rect l="l" t="t" r="r" b="b"/>
            <a:pathLst>
              <a:path w="7410668" h="5509791">
                <a:moveTo>
                  <a:pt x="0" y="0"/>
                </a:moveTo>
                <a:lnTo>
                  <a:pt x="7410668" y="0"/>
                </a:lnTo>
                <a:lnTo>
                  <a:pt x="7410668" y="5509790"/>
                </a:lnTo>
                <a:lnTo>
                  <a:pt x="0" y="5509790"/>
                </a:lnTo>
                <a:lnTo>
                  <a:pt x="0" y="0"/>
                </a:lnTo>
                <a:close/>
              </a:path>
            </a:pathLst>
          </a:custGeom>
          <a:blipFill>
            <a:blip r:embed="rId5"/>
            <a:stretch>
              <a:fillRect/>
            </a:stretch>
          </a:blipFill>
        </p:spPr>
      </p:sp>
      <p:sp>
        <p:nvSpPr>
          <p:cNvPr id="6" name="Freeform 6"/>
          <p:cNvSpPr/>
          <p:nvPr/>
        </p:nvSpPr>
        <p:spPr>
          <a:xfrm>
            <a:off x="717297" y="3947479"/>
            <a:ext cx="9549428" cy="5601476"/>
          </a:xfrm>
          <a:custGeom>
            <a:avLst/>
            <a:gdLst/>
            <a:ahLst/>
            <a:cxnLst/>
            <a:rect l="l" t="t" r="r" b="b"/>
            <a:pathLst>
              <a:path w="9549428" h="5601476">
                <a:moveTo>
                  <a:pt x="0" y="0"/>
                </a:moveTo>
                <a:lnTo>
                  <a:pt x="9549428" y="0"/>
                </a:lnTo>
                <a:lnTo>
                  <a:pt x="9549428" y="5601476"/>
                </a:lnTo>
                <a:lnTo>
                  <a:pt x="0" y="5601476"/>
                </a:lnTo>
                <a:lnTo>
                  <a:pt x="0" y="0"/>
                </a:lnTo>
                <a:close/>
              </a:path>
            </a:pathLst>
          </a:custGeom>
          <a:blipFill>
            <a:blip r:embed="rId6"/>
            <a:stretch>
              <a:fillRect/>
            </a:stretch>
          </a:blipFill>
        </p:spPr>
      </p:sp>
      <p:sp>
        <p:nvSpPr>
          <p:cNvPr id="7" name="TextBox 7"/>
          <p:cNvSpPr txBox="1"/>
          <p:nvPr/>
        </p:nvSpPr>
        <p:spPr>
          <a:xfrm>
            <a:off x="5795364" y="237875"/>
            <a:ext cx="6697271" cy="1419725"/>
          </a:xfrm>
          <a:prstGeom prst="rect">
            <a:avLst/>
          </a:prstGeom>
        </p:spPr>
        <p:txBody>
          <a:bodyPr lIns="0" tIns="0" rIns="0" bIns="0" rtlCol="0" anchor="t">
            <a:spAutoFit/>
          </a:bodyPr>
          <a:lstStyle/>
          <a:p>
            <a:pPr algn="ctr">
              <a:lnSpc>
                <a:spcPts val="11612"/>
              </a:lnSpc>
            </a:pPr>
            <a:r>
              <a:rPr lang="en-US" sz="8294" b="1">
                <a:solidFill>
                  <a:srgbClr val="000000"/>
                </a:solidFill>
                <a:latin typeface="Canva Sans Bold"/>
                <a:ea typeface="Canva Sans Bold"/>
                <a:cs typeface="Canva Sans Bold"/>
                <a:sym typeface="Canva Sans Bold"/>
              </a:rPr>
              <a:t>EDA Analysis</a:t>
            </a:r>
          </a:p>
        </p:txBody>
      </p:sp>
      <p:sp>
        <p:nvSpPr>
          <p:cNvPr id="8" name="TextBox 8"/>
          <p:cNvSpPr txBox="1"/>
          <p:nvPr/>
        </p:nvSpPr>
        <p:spPr>
          <a:xfrm>
            <a:off x="1028700" y="1811097"/>
            <a:ext cx="17106900" cy="1035122"/>
          </a:xfrm>
          <a:prstGeom prst="rect">
            <a:avLst/>
          </a:prstGeom>
        </p:spPr>
        <p:txBody>
          <a:bodyPr lIns="0" tIns="0" rIns="0" bIns="0" rtlCol="0" anchor="t">
            <a:spAutoFit/>
          </a:bodyPr>
          <a:lstStyle/>
          <a:p>
            <a:pPr algn="l">
              <a:lnSpc>
                <a:spcPts val="4244"/>
              </a:lnSpc>
            </a:pPr>
            <a:r>
              <a:rPr lang="en-US" sz="3031">
                <a:solidFill>
                  <a:srgbClr val="000000"/>
                </a:solidFill>
                <a:latin typeface="Canva Sans"/>
                <a:ea typeface="Canva Sans"/>
                <a:cs typeface="Canva Sans"/>
                <a:sym typeface="Canva Sans"/>
              </a:rPr>
              <a:t>EDA was performed to understand the distribution of soil and environmental parameters, identify patterns among crops, and analyze relationships between important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015034" y="7322773"/>
            <a:ext cx="5928453" cy="592845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C0DF99">
                    <a:alpha val="100000"/>
                  </a:srgbClr>
                </a:gs>
                <a:gs pos="100000">
                  <a:srgbClr val="8EB953">
                    <a:alpha val="100000"/>
                  </a:srgbClr>
                </a:gs>
              </a:gsLst>
              <a:lin ang="540000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671428" y="9027479"/>
            <a:ext cx="1700128" cy="1918339"/>
          </a:xfrm>
          <a:custGeom>
            <a:avLst/>
            <a:gdLst/>
            <a:ahLst/>
            <a:cxnLst/>
            <a:rect l="l" t="t" r="r" b="b"/>
            <a:pathLst>
              <a:path w="1700128" h="1918339">
                <a:moveTo>
                  <a:pt x="0" y="0"/>
                </a:moveTo>
                <a:lnTo>
                  <a:pt x="1700128" y="0"/>
                </a:lnTo>
                <a:lnTo>
                  <a:pt x="1700128" y="1918339"/>
                </a:lnTo>
                <a:lnTo>
                  <a:pt x="0" y="1918339"/>
                </a:lnTo>
                <a:lnTo>
                  <a:pt x="0" y="0"/>
                </a:lnTo>
                <a:close/>
              </a:path>
            </a:pathLst>
          </a:custGeom>
          <a:blipFill>
            <a:blip r:embed="rId2"/>
            <a:stretch>
              <a:fillRect/>
            </a:stretch>
          </a:blipFill>
        </p:spPr>
      </p:sp>
      <p:sp>
        <p:nvSpPr>
          <p:cNvPr id="6" name="Freeform 6"/>
          <p:cNvSpPr/>
          <p:nvPr/>
        </p:nvSpPr>
        <p:spPr>
          <a:xfrm>
            <a:off x="-788606" y="-700407"/>
            <a:ext cx="1577213" cy="2854684"/>
          </a:xfrm>
          <a:custGeom>
            <a:avLst/>
            <a:gdLst/>
            <a:ahLst/>
            <a:cxnLst/>
            <a:rect l="l" t="t" r="r" b="b"/>
            <a:pathLst>
              <a:path w="1577213" h="2854684">
                <a:moveTo>
                  <a:pt x="0" y="0"/>
                </a:moveTo>
                <a:lnTo>
                  <a:pt x="1577212" y="0"/>
                </a:lnTo>
                <a:lnTo>
                  <a:pt x="1577212" y="2854683"/>
                </a:lnTo>
                <a:lnTo>
                  <a:pt x="0" y="2854683"/>
                </a:lnTo>
                <a:lnTo>
                  <a:pt x="0" y="0"/>
                </a:lnTo>
                <a:close/>
              </a:path>
            </a:pathLst>
          </a:custGeom>
          <a:blipFill>
            <a:blip r:embed="rId3"/>
            <a:stretch>
              <a:fillRect/>
            </a:stretch>
          </a:blipFill>
        </p:spPr>
      </p:sp>
      <p:sp>
        <p:nvSpPr>
          <p:cNvPr id="7" name="Freeform 7"/>
          <p:cNvSpPr/>
          <p:nvPr/>
        </p:nvSpPr>
        <p:spPr>
          <a:xfrm>
            <a:off x="10031295" y="2154276"/>
            <a:ext cx="7496410" cy="5504744"/>
          </a:xfrm>
          <a:custGeom>
            <a:avLst/>
            <a:gdLst/>
            <a:ahLst/>
            <a:cxnLst/>
            <a:rect l="l" t="t" r="r" b="b"/>
            <a:pathLst>
              <a:path w="7496410" h="5504744">
                <a:moveTo>
                  <a:pt x="0" y="0"/>
                </a:moveTo>
                <a:lnTo>
                  <a:pt x="7496410" y="0"/>
                </a:lnTo>
                <a:lnTo>
                  <a:pt x="7496410" y="5504745"/>
                </a:lnTo>
                <a:lnTo>
                  <a:pt x="0" y="5504745"/>
                </a:lnTo>
                <a:lnTo>
                  <a:pt x="0" y="0"/>
                </a:lnTo>
                <a:close/>
              </a:path>
            </a:pathLst>
          </a:custGeom>
          <a:blipFill>
            <a:blip r:embed="rId4"/>
            <a:stretch>
              <a:fillRect/>
            </a:stretch>
          </a:blipFill>
        </p:spPr>
      </p:sp>
      <p:sp>
        <p:nvSpPr>
          <p:cNvPr id="8" name="TextBox 8"/>
          <p:cNvSpPr txBox="1"/>
          <p:nvPr/>
        </p:nvSpPr>
        <p:spPr>
          <a:xfrm>
            <a:off x="5639040" y="-161925"/>
            <a:ext cx="6755921" cy="1419725"/>
          </a:xfrm>
          <a:prstGeom prst="rect">
            <a:avLst/>
          </a:prstGeom>
        </p:spPr>
        <p:txBody>
          <a:bodyPr lIns="0" tIns="0" rIns="0" bIns="0" rtlCol="0" anchor="t">
            <a:spAutoFit/>
          </a:bodyPr>
          <a:lstStyle/>
          <a:p>
            <a:pPr algn="ctr">
              <a:lnSpc>
                <a:spcPts val="11612"/>
              </a:lnSpc>
            </a:pPr>
            <a:r>
              <a:rPr lang="en-US" sz="8294" b="1" dirty="0">
                <a:solidFill>
                  <a:srgbClr val="000000"/>
                </a:solidFill>
                <a:latin typeface="Canva Sans Bold"/>
                <a:ea typeface="Canva Sans Bold"/>
                <a:cs typeface="Canva Sans Bold"/>
                <a:sym typeface="Canva Sans Bold"/>
              </a:rPr>
              <a:t>EDA Findings</a:t>
            </a:r>
          </a:p>
        </p:txBody>
      </p:sp>
      <p:sp>
        <p:nvSpPr>
          <p:cNvPr id="9" name="TextBox 9"/>
          <p:cNvSpPr txBox="1"/>
          <p:nvPr/>
        </p:nvSpPr>
        <p:spPr>
          <a:xfrm>
            <a:off x="958124" y="1818849"/>
            <a:ext cx="8832343" cy="7405193"/>
          </a:xfrm>
          <a:prstGeom prst="rect">
            <a:avLst/>
          </a:prstGeom>
        </p:spPr>
        <p:txBody>
          <a:bodyPr lIns="0" tIns="0" rIns="0" bIns="0" rtlCol="0" anchor="t">
            <a:spAutoFit/>
          </a:bodyPr>
          <a:lstStyle/>
          <a:p>
            <a:pPr algn="just">
              <a:lnSpc>
                <a:spcPts val="3964"/>
              </a:lnSpc>
            </a:pPr>
            <a:r>
              <a:rPr lang="en-US" sz="2831">
                <a:solidFill>
                  <a:srgbClr val="000000"/>
                </a:solidFill>
                <a:latin typeface="Canva Sans"/>
                <a:ea typeface="Canva Sans"/>
                <a:cs typeface="Canva Sans"/>
                <a:sym typeface="Canva Sans"/>
              </a:rPr>
              <a:t>Some important observations:</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2,200 records across 22 crop classes, with no missing values or duplicates.</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Each crop has exactly 100 samples, so the target is perfectly balanced.</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N (0–140), P (5–145) and K (5–205) vary widely; legumes need far less N than cotton or rice.</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Temperature, humidity, pH and rainfall each span wide, crop-specific ranges (e.g. rainfall 20–299mm).</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P and K are strongly correlated (≈0.74) in the heatmap; N correlates weakly with P.</a:t>
            </a:r>
          </a:p>
          <a:p>
            <a:pPr marL="611424" lvl="1" indent="-305712" algn="just">
              <a:lnSpc>
                <a:spcPts val="3964"/>
              </a:lnSpc>
              <a:buFont typeface="Arial"/>
              <a:buChar char="•"/>
            </a:pPr>
            <a:r>
              <a:rPr lang="en-US" sz="2831">
                <a:solidFill>
                  <a:srgbClr val="000000"/>
                </a:solidFill>
                <a:latin typeface="Canva Sans"/>
                <a:ea typeface="Canva Sans"/>
                <a:cs typeface="Canva Sans"/>
                <a:sym typeface="Canva Sans"/>
              </a:rPr>
              <a:t>Grapes and apple need high P &amp; K, cotton needs the most N, and rice needs high humidity and rainfall.</a:t>
            </a:r>
          </a:p>
          <a:p>
            <a:pPr algn="just">
              <a:lnSpc>
                <a:spcPts val="3964"/>
              </a:lnSpc>
            </a:pPr>
            <a:endParaRPr lang="en-US" sz="2831">
              <a:solidFill>
                <a:srgbClr val="000000"/>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grpSp>
        <p:nvGrpSpPr>
          <p:cNvPr id="3" name="Group 3"/>
          <p:cNvGrpSpPr/>
          <p:nvPr/>
        </p:nvGrpSpPr>
        <p:grpSpPr>
          <a:xfrm>
            <a:off x="-3805814" y="605084"/>
            <a:ext cx="9046223" cy="904622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730" r="-40362"/>
              </a:stretch>
            </a:blipFill>
          </p:spPr>
        </p:sp>
      </p:grpSp>
      <p:sp>
        <p:nvSpPr>
          <p:cNvPr id="5" name="Freeform 5"/>
          <p:cNvSpPr/>
          <p:nvPr/>
        </p:nvSpPr>
        <p:spPr>
          <a:xfrm>
            <a:off x="15796205" y="9220878"/>
            <a:ext cx="2926189" cy="1543565"/>
          </a:xfrm>
          <a:custGeom>
            <a:avLst/>
            <a:gdLst/>
            <a:ahLst/>
            <a:cxnLst/>
            <a:rect l="l" t="t" r="r" b="b"/>
            <a:pathLst>
              <a:path w="2926189" h="1543565">
                <a:moveTo>
                  <a:pt x="0" y="0"/>
                </a:moveTo>
                <a:lnTo>
                  <a:pt x="2926190" y="0"/>
                </a:lnTo>
                <a:lnTo>
                  <a:pt x="2926190" y="1543564"/>
                </a:lnTo>
                <a:lnTo>
                  <a:pt x="0" y="1543564"/>
                </a:lnTo>
                <a:lnTo>
                  <a:pt x="0" y="0"/>
                </a:lnTo>
                <a:close/>
              </a:path>
            </a:pathLst>
          </a:custGeom>
          <a:blipFill>
            <a:blip r:embed="rId4"/>
            <a:stretch>
              <a:fillRect/>
            </a:stretch>
          </a:blipFill>
        </p:spPr>
      </p:sp>
      <p:sp>
        <p:nvSpPr>
          <p:cNvPr id="6" name="Freeform 6"/>
          <p:cNvSpPr/>
          <p:nvPr/>
        </p:nvSpPr>
        <p:spPr>
          <a:xfrm>
            <a:off x="16710787" y="-549438"/>
            <a:ext cx="1577213" cy="2854684"/>
          </a:xfrm>
          <a:custGeom>
            <a:avLst/>
            <a:gdLst/>
            <a:ahLst/>
            <a:cxnLst/>
            <a:rect l="l" t="t" r="r" b="b"/>
            <a:pathLst>
              <a:path w="1577213" h="2854684">
                <a:moveTo>
                  <a:pt x="0" y="0"/>
                </a:moveTo>
                <a:lnTo>
                  <a:pt x="1577213" y="0"/>
                </a:lnTo>
                <a:lnTo>
                  <a:pt x="1577213" y="2854684"/>
                </a:lnTo>
                <a:lnTo>
                  <a:pt x="0" y="2854684"/>
                </a:lnTo>
                <a:lnTo>
                  <a:pt x="0" y="0"/>
                </a:lnTo>
                <a:close/>
              </a:path>
            </a:pathLst>
          </a:custGeom>
          <a:blipFill>
            <a:blip r:embed="rId5"/>
            <a:stretch>
              <a:fillRect/>
            </a:stretch>
          </a:blipFill>
        </p:spPr>
      </p:sp>
      <p:graphicFrame>
        <p:nvGraphicFramePr>
          <p:cNvPr id="7" name="Object 7"/>
          <p:cNvGraphicFramePr/>
          <p:nvPr/>
        </p:nvGraphicFramePr>
        <p:xfrm>
          <a:off x="5467899" y="2121132"/>
          <a:ext cx="5657850" cy="2514600"/>
        </p:xfrm>
        <a:graphic>
          <a:graphicData uri="http://schemas.openxmlformats.org/presentationml/2006/ole">
            <mc:AlternateContent xmlns:mc="http://schemas.openxmlformats.org/markup-compatibility/2006">
              <mc:Choice xmlns:v="urn:schemas-microsoft-com:vml" Requires="v">
                <p:oleObj name="Worksheet" r:id="rId6" imgW="6781800" imgH="3644900" progId="Excel.Sheet.12">
                  <p:embed/>
                </p:oleObj>
              </mc:Choice>
              <mc:Fallback>
                <p:oleObj name="Worksheet" r:id="rId6" imgW="6781800" imgH="3644900" progId="Excel.Sheet.12">
                  <p:embed/>
                  <p:pic>
                    <p:nvPicPr>
                      <p:cNvPr id="0" name=""/>
                      <p:cNvPicPr/>
                      <p:nvPr/>
                    </p:nvPicPr>
                    <p:blipFill>
                      <a:blip r:embed="rId7"/>
                      <a:stretch>
                        <a:fillRect/>
                      </a:stretch>
                    </p:blipFill>
                    <p:spPr>
                      <a:xfrm>
                        <a:off x="5467899" y="2121132"/>
                        <a:ext cx="5657850" cy="2514600"/>
                      </a:xfrm>
                      <a:prstGeom prst="rect">
                        <a:avLst/>
                      </a:prstGeom>
                    </p:spPr>
                  </p:pic>
                </p:oleObj>
              </mc:Fallback>
            </mc:AlternateContent>
          </a:graphicData>
        </a:graphic>
      </p:graphicFrame>
      <p:sp>
        <p:nvSpPr>
          <p:cNvPr id="8" name="TextBox 8"/>
          <p:cNvSpPr txBox="1"/>
          <p:nvPr/>
        </p:nvSpPr>
        <p:spPr>
          <a:xfrm>
            <a:off x="2766968" y="-161925"/>
            <a:ext cx="12500064" cy="1419725"/>
          </a:xfrm>
          <a:prstGeom prst="rect">
            <a:avLst/>
          </a:prstGeom>
        </p:spPr>
        <p:txBody>
          <a:bodyPr lIns="0" tIns="0" rIns="0" bIns="0" rtlCol="0" anchor="t">
            <a:spAutoFit/>
          </a:bodyPr>
          <a:lstStyle/>
          <a:p>
            <a:pPr algn="ctr">
              <a:lnSpc>
                <a:spcPts val="11612"/>
              </a:lnSpc>
            </a:pPr>
            <a:r>
              <a:rPr lang="en-US" sz="8294" b="1">
                <a:solidFill>
                  <a:srgbClr val="000000"/>
                </a:solidFill>
                <a:latin typeface="Canva Sans Bold"/>
                <a:ea typeface="Canva Sans Bold"/>
                <a:cs typeface="Canva Sans Bold"/>
                <a:sym typeface="Canva Sans Bold"/>
              </a:rPr>
              <a:t>Research Paper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grpSp>
        <p:nvGrpSpPr>
          <p:cNvPr id="3" name="Group 3"/>
          <p:cNvGrpSpPr/>
          <p:nvPr/>
        </p:nvGrpSpPr>
        <p:grpSpPr>
          <a:xfrm>
            <a:off x="-1525811" y="2007865"/>
            <a:ext cx="6957598" cy="7058534"/>
            <a:chOff x="0" y="0"/>
            <a:chExt cx="1107136" cy="1123198"/>
          </a:xfrm>
        </p:grpSpPr>
        <p:sp>
          <p:nvSpPr>
            <p:cNvPr id="4" name="Freeform 4"/>
            <p:cNvSpPr/>
            <p:nvPr/>
          </p:nvSpPr>
          <p:spPr>
            <a:xfrm>
              <a:off x="0" y="0"/>
              <a:ext cx="1107136" cy="1123198"/>
            </a:xfrm>
            <a:custGeom>
              <a:avLst/>
              <a:gdLst/>
              <a:ahLst/>
              <a:cxnLst/>
              <a:rect l="l" t="t" r="r" b="b"/>
              <a:pathLst>
                <a:path w="1107136" h="1123198">
                  <a:moveTo>
                    <a:pt x="203200" y="0"/>
                  </a:moveTo>
                  <a:lnTo>
                    <a:pt x="1107136" y="0"/>
                  </a:lnTo>
                  <a:lnTo>
                    <a:pt x="903936" y="1123198"/>
                  </a:lnTo>
                  <a:lnTo>
                    <a:pt x="0" y="1123198"/>
                  </a:lnTo>
                  <a:lnTo>
                    <a:pt x="203200" y="0"/>
                  </a:lnTo>
                  <a:close/>
                </a:path>
              </a:pathLst>
            </a:custGeom>
            <a:blipFill>
              <a:blip r:embed="rId3"/>
              <a:stretch>
                <a:fillRect l="-25993" r="-25993"/>
              </a:stretch>
            </a:blipFill>
          </p:spPr>
        </p:sp>
      </p:grpSp>
      <p:grpSp>
        <p:nvGrpSpPr>
          <p:cNvPr id="5" name="Group 5"/>
          <p:cNvGrpSpPr/>
          <p:nvPr/>
        </p:nvGrpSpPr>
        <p:grpSpPr>
          <a:xfrm>
            <a:off x="12854928" y="2007865"/>
            <a:ext cx="6957598" cy="7058534"/>
            <a:chOff x="0" y="0"/>
            <a:chExt cx="1107136" cy="1123198"/>
          </a:xfrm>
        </p:grpSpPr>
        <p:sp>
          <p:nvSpPr>
            <p:cNvPr id="6" name="Freeform 6"/>
            <p:cNvSpPr/>
            <p:nvPr/>
          </p:nvSpPr>
          <p:spPr>
            <a:xfrm>
              <a:off x="0" y="0"/>
              <a:ext cx="1107136" cy="1123198"/>
            </a:xfrm>
            <a:custGeom>
              <a:avLst/>
              <a:gdLst/>
              <a:ahLst/>
              <a:cxnLst/>
              <a:rect l="l" t="t" r="r" b="b"/>
              <a:pathLst>
                <a:path w="1107136" h="1123198">
                  <a:moveTo>
                    <a:pt x="203200" y="0"/>
                  </a:moveTo>
                  <a:lnTo>
                    <a:pt x="1107136" y="0"/>
                  </a:lnTo>
                  <a:lnTo>
                    <a:pt x="903936" y="1123198"/>
                  </a:lnTo>
                  <a:lnTo>
                    <a:pt x="0" y="1123198"/>
                  </a:lnTo>
                  <a:lnTo>
                    <a:pt x="203200" y="0"/>
                  </a:lnTo>
                  <a:close/>
                </a:path>
              </a:pathLst>
            </a:custGeom>
            <a:blipFill>
              <a:blip r:embed="rId4"/>
              <a:stretch>
                <a:fillRect l="-26135" r="-26135"/>
              </a:stretch>
            </a:blipFill>
          </p:spPr>
        </p:sp>
      </p:grpSp>
      <p:sp>
        <p:nvSpPr>
          <p:cNvPr id="7" name="TextBox 7"/>
          <p:cNvSpPr txBox="1"/>
          <p:nvPr/>
        </p:nvSpPr>
        <p:spPr>
          <a:xfrm>
            <a:off x="6600492" y="-9492"/>
            <a:ext cx="5087016" cy="1038192"/>
          </a:xfrm>
          <a:prstGeom prst="rect">
            <a:avLst/>
          </a:prstGeom>
        </p:spPr>
        <p:txBody>
          <a:bodyPr lIns="0" tIns="0" rIns="0" bIns="0" rtlCol="0" anchor="t">
            <a:spAutoFit/>
          </a:bodyPr>
          <a:lstStyle/>
          <a:p>
            <a:pPr marL="0" lvl="0" indent="0" algn="ctr">
              <a:lnSpc>
                <a:spcPts val="8400"/>
              </a:lnSpc>
              <a:spcBef>
                <a:spcPct val="0"/>
              </a:spcBef>
            </a:pPr>
            <a:r>
              <a:rPr lang="en-US" sz="6000" b="1">
                <a:solidFill>
                  <a:srgbClr val="237005"/>
                </a:solidFill>
                <a:latin typeface="TT Hoves Bold"/>
                <a:ea typeface="TT Hoves Bold"/>
                <a:cs typeface="TT Hoves Bold"/>
                <a:sym typeface="TT Hoves Bold"/>
              </a:rPr>
              <a:t>Conclusion</a:t>
            </a:r>
          </a:p>
        </p:txBody>
      </p:sp>
      <p:grpSp>
        <p:nvGrpSpPr>
          <p:cNvPr id="8" name="Group 8"/>
          <p:cNvGrpSpPr/>
          <p:nvPr/>
        </p:nvGrpSpPr>
        <p:grpSpPr>
          <a:xfrm>
            <a:off x="-667168" y="7562432"/>
            <a:ext cx="1695868" cy="169586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rot="-10800000">
            <a:off x="-377396" y="7852204"/>
            <a:ext cx="1116325" cy="111632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a:off x="12859083" y="2300518"/>
            <a:ext cx="1695868" cy="169586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7" name="Group 17"/>
          <p:cNvGrpSpPr/>
          <p:nvPr/>
        </p:nvGrpSpPr>
        <p:grpSpPr>
          <a:xfrm rot="-10800000">
            <a:off x="13148855" y="2590290"/>
            <a:ext cx="1116325" cy="111632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20" name="TextBox 20"/>
          <p:cNvSpPr txBox="1"/>
          <p:nvPr/>
        </p:nvSpPr>
        <p:spPr>
          <a:xfrm>
            <a:off x="5254464" y="2508298"/>
            <a:ext cx="7779073" cy="6019568"/>
          </a:xfrm>
          <a:prstGeom prst="rect">
            <a:avLst/>
          </a:prstGeom>
        </p:spPr>
        <p:txBody>
          <a:bodyPr lIns="0" tIns="0" rIns="0" bIns="0" rtlCol="0" anchor="t">
            <a:spAutoFit/>
          </a:bodyPr>
          <a:lstStyle/>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The project addresses the problem of unsuitable crop selection.</a:t>
            </a:r>
          </a:p>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The selected dataset contains soil and environmental parameters relevant to crop growth.</a:t>
            </a:r>
          </a:p>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EDA helps identify patterns and relationships between agricultural conditions and crops.</a:t>
            </a:r>
          </a:p>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Multinomial Logistic Regression is suitable because the target contains multiple crop categories.</a:t>
            </a:r>
          </a:p>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The model will be evaluated using Accuracy, Precision, Recall, F1-score and Confusion Matrix.</a:t>
            </a:r>
          </a:p>
          <a:p>
            <a:pPr marL="527476" lvl="1" indent="-263738" algn="l">
              <a:lnSpc>
                <a:spcPts val="3420"/>
              </a:lnSpc>
              <a:buFont typeface="Arial"/>
              <a:buChar char="•"/>
            </a:pPr>
            <a:r>
              <a:rPr lang="en-US" sz="2443">
                <a:solidFill>
                  <a:srgbClr val="000000"/>
                </a:solidFill>
                <a:latin typeface="Canva Sans"/>
                <a:ea typeface="Canva Sans"/>
                <a:cs typeface="Canva Sans"/>
                <a:sym typeface="Canva Sans"/>
              </a:rPr>
              <a:t>The system can support data-driven agricultural decision-making.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1734065" y="3210356"/>
            <a:ext cx="14819870" cy="3475763"/>
          </a:xfrm>
          <a:prstGeom prst="rect">
            <a:avLst/>
          </a:prstGeom>
        </p:spPr>
        <p:txBody>
          <a:bodyPr lIns="0" tIns="0" rIns="0" bIns="0" rtlCol="0" anchor="t">
            <a:spAutoFit/>
          </a:bodyPr>
          <a:lstStyle/>
          <a:p>
            <a:pPr marL="0" lvl="0" indent="0" algn="ctr">
              <a:lnSpc>
                <a:spcPts val="28399"/>
              </a:lnSpc>
              <a:spcBef>
                <a:spcPct val="0"/>
              </a:spcBef>
            </a:pPr>
            <a:r>
              <a:rPr lang="en-US" sz="20285" b="1">
                <a:solidFill>
                  <a:srgbClr val="C4FF7B"/>
                </a:solidFill>
                <a:latin typeface="TT Hoves Bold"/>
                <a:ea typeface="TT Hoves Bold"/>
                <a:cs typeface="TT Hoves Bold"/>
                <a:sym typeface="TT Hoves Bold"/>
              </a:rPr>
              <a:t>Thank You!</a:t>
            </a:r>
          </a:p>
        </p:txBody>
      </p:sp>
      <p:grpSp>
        <p:nvGrpSpPr>
          <p:cNvPr id="4" name="Group 4"/>
          <p:cNvGrpSpPr/>
          <p:nvPr/>
        </p:nvGrpSpPr>
        <p:grpSpPr>
          <a:xfrm rot="-10800000">
            <a:off x="-377396" y="7852204"/>
            <a:ext cx="1116325" cy="111632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7" name="Group 7"/>
          <p:cNvGrpSpPr/>
          <p:nvPr/>
        </p:nvGrpSpPr>
        <p:grpSpPr>
          <a:xfrm>
            <a:off x="17259300" y="2300518"/>
            <a:ext cx="1695868" cy="169586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0" name="Group 10"/>
          <p:cNvGrpSpPr/>
          <p:nvPr/>
        </p:nvGrpSpPr>
        <p:grpSpPr>
          <a:xfrm rot="-10800000">
            <a:off x="17549071" y="2590290"/>
            <a:ext cx="1116325" cy="111632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0" cap="sq">
              <a:gradFill>
                <a:gsLst>
                  <a:gs pos="0">
                    <a:srgbClr val="C0DF99">
                      <a:alpha val="0"/>
                    </a:srgbClr>
                  </a:gs>
                  <a:gs pos="100000">
                    <a:srgbClr val="8EB953">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435</Words>
  <Application>Microsoft Office PowerPoint</Application>
  <PresentationFormat>Custom</PresentationFormat>
  <Paragraphs>55</Paragraphs>
  <Slides>10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TT Hoves Bold</vt:lpstr>
      <vt:lpstr>Canva Sans</vt:lpstr>
      <vt:lpstr>Arial</vt:lpstr>
      <vt:lpstr>Calibri</vt:lpstr>
      <vt:lpstr>Canva Sans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Recommendation Using Multinomial Logistic Regression</dc:title>
  <cp:lastModifiedBy>girishkurapati2@hotmail.com</cp:lastModifiedBy>
  <cp:revision>2</cp:revision>
  <dcterms:created xsi:type="dcterms:W3CDTF">2006-08-16T00:00:00Z</dcterms:created>
  <dcterms:modified xsi:type="dcterms:W3CDTF">2026-08-31T10:02:23Z</dcterms:modified>
  <dc:identifier>DAHTmFdiFbY</dc:identifier>
</cp:coreProperties>
</file>